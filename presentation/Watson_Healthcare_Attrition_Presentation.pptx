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overtime</c:v>
                  </c:pt>
                  <c:pt idx="1">
                    <c:v>Works overtime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29.2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Under $3K</c:v>
                  </c:pt>
                  <c:pt idx="1">
                    <c:v>$3K-$6K</c:v>
                  </c:pt>
                  <c:pt idx="2">
                    <c:v>$6K-$10K</c:v>
                  </c:pt>
                  <c:pt idx="3">
                    <c:v>$10K+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26.23</c:v>
                </c:pt>
                <c:pt idx="1">
                  <c:v>8.38</c:v>
                </c:pt>
                <c:pt idx="2">
                  <c:v>6.49</c:v>
                </c:pt>
                <c:pt idx="3">
                  <c:v>3.69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0-2 years</c:v>
                  </c:pt>
                  <c:pt idx="1">
                    <c:v>3-5 years</c:v>
                  </c:pt>
                  <c:pt idx="2">
                    <c:v>6-10 years</c:v>
                  </c:pt>
                  <c:pt idx="3">
                    <c:v>10+ years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27.65</c:v>
                </c:pt>
                <c:pt idx="1">
                  <c:v>10.18</c:v>
                </c:pt>
                <c:pt idx="2">
                  <c:v>6.81</c:v>
                </c:pt>
                <c:pt idx="3">
                  <c:v>2.46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(1)</c:v>
                  </c:pt>
                  <c:pt idx="1">
                    <c:v>Medium (2)</c:v>
                  </c:pt>
                  <c:pt idx="2">
                    <c:v>High (3)</c:v>
                  </c:pt>
                  <c:pt idx="3">
                    <c:v>Very High (4)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26.67</c:v>
                </c:pt>
                <c:pt idx="1">
                  <c:v>14.03</c:v>
                </c:pt>
                <c:pt idx="2">
                  <c:v>9.73</c:v>
                </c:pt>
                <c:pt idx="3">
                  <c:v>12.14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(1)</c:v>
                  </c:pt>
                  <c:pt idx="1">
                    <c:v>Medium (2)</c:v>
                  </c:pt>
                  <c:pt idx="2">
                    <c:v>High (3)</c:v>
                  </c:pt>
                  <c:pt idx="3">
                    <c:v>Very High (4)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15.81</c:v>
                </c:pt>
                <c:pt idx="1">
                  <c:v>13.55</c:v>
                </c:pt>
                <c:pt idx="2">
                  <c:v>11.83</c:v>
                </c:pt>
                <c:pt idx="3">
                  <c:v>8.49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Other</c:v>
                  </c:pt>
                  <c:pt idx="1">
                    <c:v>Nurse</c:v>
                  </c:pt>
                  <c:pt idx="2">
                    <c:v>Therapist</c:v>
                  </c:pt>
                  <c:pt idx="3">
                    <c:v>Administrative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16.29</c:v>
                </c:pt>
                <c:pt idx="1">
                  <c:v>13.02</c:v>
                </c:pt>
                <c:pt idx="2">
                  <c:v>2.12</c:v>
                </c:pt>
                <c:pt idx="3">
                  <c:v>0.76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Watson Healthcare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Attrition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key drivers of turnover and actionable strategies to improve retention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by S. Jai Varanasi  |  InsightArc Analytics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8638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Healthcare is experiencing an 11.87% attrition rate across 1,676 employees, with 199 departures. While below industry average, the financial and operational impact is significant — each departure costs 0.5-2x annual salary to replace.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finding: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dominant predictor of attrition. Employees who work overtime leave at 29.2% — nearly 6x the rate of non-overtime workers (5.0%). This creates a vicious cycle: understaffing leads to overtime, which causes burnout, which causes more departures, which creates more understaffing.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at-risk profile: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(~31 years old), low-paid (avg $4,024/month), new to the company (avg 3.7 years), working overtime, with poor work-life balance. Most likely a Nurse or 'Other' role in Cardiology or Maternity.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mandatory overtime through additional hiring, increase entry-level compensation, strengthen the first-2-year onboarding experience, and implement nurse-specific retention programs.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(Pandas) → SQL (MySQL) → Tableau | Dataset: Watson Healthcare Modified (1,676 employees, 35 variables)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Attrition at a glance: 1 in 8 employees is leaving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1,676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697480" y="10058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76F5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11.87%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9C46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(leavers)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$4,024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812280" y="10058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(leavers)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Attrition by department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365760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17520"/>
            <a:ext cx="54864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017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13.94%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of 531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365760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566160"/>
            <a:ext cx="54864" cy="4114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566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12.31%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566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of 796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3657600" cy="4114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114800"/>
            <a:ext cx="54864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4114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7.74%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0400" y="4114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of 349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3063240"/>
            <a:ext cx="228600" cy="2286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(&gt;15%)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3474720"/>
            <a:ext cx="228600" cy="2286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(10-15%)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3886200"/>
            <a:ext cx="228600" cy="228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(&lt;10%)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Overtime is the #1 predictor of attrition — employees who work OT leave at 6x the rate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00584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3017520" cy="1097280"/>
          </a:xfrm>
          <a:prstGeom prst="rect">
            <a:avLst/>
          </a:prstGeom>
          <a:solidFill>
            <a:srgbClr val="FEF2EF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0" y="1005840"/>
            <a:ext cx="54864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</a:rPr>
              <a:t>29.2%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of overtime workers leave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669280" y="2286000"/>
            <a:ext cx="3017520" cy="1097280"/>
          </a:xfrm>
          <a:prstGeom prst="rect">
            <a:avLst/>
          </a:prstGeom>
          <a:solidFill>
            <a:srgbClr val="EDF7F5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0" y="2286000"/>
            <a:ext cx="54864" cy="1097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5.0%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of non-overtime workers leave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vicious cycle: understaffing → overtime → burnout → more departures → more understaffing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Overtime is recorded as binary (Yes/No). A more granular measure (weekly hours) would enable threshold analysis.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Lower-paid employees leave at 7x the rate of top earners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9144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017520" cy="1828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Stayed: </a:t>
            </a:r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$6,852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$4,024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$2,828 gap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in 4 employees earning under $3K/month leave the organization. Even modest wage increases for the lowest bracket could significantly reduce this 26% attrition rate.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2 years are critical — new hires leave at 11x the rate of tenured staff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9144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017520" cy="2286000"/>
          </a:xfrm>
          <a:prstGeom prst="rect">
            <a:avLst/>
          </a:prstGeom>
          <a:solidFill>
            <a:srgbClr val="FEF2EF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0" y="914400"/>
            <a:ext cx="54864" cy="2286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0515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</a:rPr>
              <a:t>107 of 199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departures happen within the first 2 years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Average tenure:</a:t>
            </a:r>
            <a:endParaRPr lang="en-US" sz="2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Stayed: 7.48 years</a:t>
            </a:r>
            <a:endParaRPr lang="en-US" sz="2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Left: 3.69 years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window is where retention is won or lost. Structured mentorship, 30-60-90 day check-ins, and buddy systems could dramatically reduce early attrition.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work-life balance and low satisfaction amplify the attrition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rating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rating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0972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employees with the lowest work-life balance rating walk out. Satisfaction shows a clear inverse pattern — higher satisfaction consistently reduces attrition across all levels.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Nurses and 'Other' roles drive nearly all turnover — Therapists and Admin rarely leave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14400"/>
            <a:ext cx="2743200" cy="2377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10515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822 Nurses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at 13% attrition = largest at-risk group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534 'Other' roles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at 16.3% = highest rate but undefined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</a:rPr>
              <a:t>Data limitation: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'Other' category needs further breakdown to enable targeted intervention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factors account for the vast majority of attrition at Watson Healthcare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60120"/>
            <a:ext cx="54864" cy="640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960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960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 vs 5.0%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960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6x difference. Single strongest predictor.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7863840" cy="640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37360"/>
            <a:ext cx="54864" cy="640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compensation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 for &lt;$3K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7x the rate of top earners ($10K+).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7863840" cy="640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514600"/>
            <a:ext cx="54864" cy="640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tenure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 in 0-2 yrs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of 199 departures in the first 2 years.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291840"/>
            <a:ext cx="54864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291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26.7% for lowest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2.5x the rate of good balance.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069080"/>
            <a:ext cx="54864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069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71600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career level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4069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31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are younger, lower-level, lower-paid.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749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60120"/>
            <a:ext cx="54864" cy="1143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mandatory overtime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additional staff to break the understaffing-overtime-burnout cycle, especially in Cardiology and Maternity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749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86000"/>
            <a:ext cx="54864" cy="11430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entry-level compensation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employees earning under $3K/month where attrition is 26%. Even modest raises could have outsized impact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749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611880"/>
            <a:ext cx="54864" cy="1143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first 2 years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069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mentorship, 30-60-90 day check-ins, and buddy systems to address the 27.65% early attrition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3749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960120"/>
            <a:ext cx="54864" cy="1143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work-life balance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1417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scheduling, predictable shift rotations, and adequate time off — especially for roles with lowest balance ratings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3749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286000"/>
            <a:ext cx="54864" cy="1143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nurse-specific retention programs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ladders, specialty training, and retention bonuses for the largest at-risk population (822 nurses, 13% attrition)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3749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611880"/>
            <a:ext cx="54864" cy="11430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basic training for all employees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4069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Zero-training employees leave at 21.3%. Even one session drops attrition to 5.95%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by S. Jai Varanasi  |  InsightArc Analytics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Watson Healthcare Employee Attrition Analysis</dc:title>
  <dc:subject>PptxGenJS Presentation</dc:subject>
  <dc:creator>S. Jai Varanasi</dc:creator>
  <cp:lastModifiedBy>S. Jai Varanasi</cp:lastModifiedBy>
  <cp:revision>1</cp:revision>
  <dcterms:created xsi:type="dcterms:W3CDTF">2026-03-29T16:46:01Z</dcterms:created>
  <dcterms:modified xsi:type="dcterms:W3CDTF">2026-03-29T16:46:01Z</dcterms:modified>
</cp:coreProperties>
</file>