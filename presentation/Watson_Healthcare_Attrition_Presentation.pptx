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rts/chart1.xml" ContentType="application/vnd.openxmlformats-officedocument.drawingml.chart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notesSlides/notesSlide6.xml" ContentType="application/vnd.openxmlformats-officedocument.presentationml.notesSlide+xml"/>
  <Override PartName="/ppt/charts/chart3.xml" ContentType="application/vnd.openxmlformats-officedocument.drawingml.chart+xml"/>
  <Override PartName="/ppt/notesSlides/notesSlide7.xml" ContentType="application/vnd.openxmlformats-officedocument.presentationml.notes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Slides/notesSlide8.xml" ContentType="application/vnd.openxmlformats-officedocument.presentationml.notesSlide+xml"/>
  <Override PartName="/ppt/charts/chart6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364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176" y="7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Attrition Rate</c:v>
                </c:pt>
              </c:strCache>
            </c:strRef>
          </c:tx>
          <c:spPr>
            <a:solidFill>
              <a:srgbClr val="2A9D8F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accent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9210-FF4F-AB66-D82842C4D35B}"/>
              </c:ext>
            </c:extLst>
          </c:dPt>
          <c:dPt>
            <c:idx val="1"/>
            <c:invertIfNegative val="0"/>
            <c:bubble3D val="0"/>
            <c:spPr>
              <a:solidFill>
                <a:srgbClr val="C0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2-9210-FF4F-AB66-D82842C4D35B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0" i="0" u="none" strike="noStrike">
                    <a:solidFill>
                      <a:srgbClr val="2C2C2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No overtime</c:v>
                </c:pt>
                <c:pt idx="1">
                  <c:v>Works overtime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</c:v>
                </c:pt>
                <c:pt idx="1">
                  <c:v>29.2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210-FF4F-AB66-D82842C4D35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C2C2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5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Attrition Rate</c:v>
                </c:pt>
              </c:strCache>
            </c:strRef>
          </c:tx>
          <c:spPr>
            <a:solidFill>
              <a:srgbClr val="C00000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675-414B-9DFA-02A3D18C3156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675-414B-9DFA-02A3D18C3156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675-414B-9DFA-02A3D18C3156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675-414B-9DFA-02A3D18C3156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C2C2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Under $3K</c:v>
                </c:pt>
                <c:pt idx="1">
                  <c:v>$3K-$6K</c:v>
                </c:pt>
                <c:pt idx="2">
                  <c:v>$6K-$10K</c:v>
                </c:pt>
                <c:pt idx="3">
                  <c:v>$10K+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26.23</c:v>
                </c:pt>
                <c:pt idx="1">
                  <c:v>8.3800000000000008</c:v>
                </c:pt>
                <c:pt idx="2">
                  <c:v>6.49</c:v>
                </c:pt>
                <c:pt idx="3">
                  <c:v>3.69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1675-414B-9DFA-02A3D18C315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C2C2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Attrition Rate</c:v>
                </c:pt>
              </c:strCache>
            </c:strRef>
          </c:tx>
          <c:spPr>
            <a:solidFill>
              <a:srgbClr val="E76F51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CCF-944D-BCC3-9226C0FA17E7}"/>
              </c:ext>
            </c:extLst>
          </c:dPt>
          <c:dPt>
            <c:idx val="1"/>
            <c:invertIfNegative val="0"/>
            <c:bubble3D val="0"/>
            <c:spPr>
              <a:solidFill>
                <a:srgbClr val="E9C46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CCF-944D-BCC3-9226C0FA17E7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CCF-944D-BCC3-9226C0FA17E7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CCF-944D-BCC3-9226C0FA17E7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C2C2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0-2 years</c:v>
                </c:pt>
                <c:pt idx="1">
                  <c:v>3-5 years</c:v>
                </c:pt>
                <c:pt idx="2">
                  <c:v>6-10 years</c:v>
                </c:pt>
                <c:pt idx="3">
                  <c:v>10+ years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27.65</c:v>
                </c:pt>
                <c:pt idx="1">
                  <c:v>10.18</c:v>
                </c:pt>
                <c:pt idx="2">
                  <c:v>6.81</c:v>
                </c:pt>
                <c:pt idx="3">
                  <c:v>2.46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CCF-944D-BCC3-9226C0FA17E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2C2C2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2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Attrition Rate</c:v>
                </c:pt>
              </c:strCache>
            </c:strRef>
          </c:tx>
          <c:spPr>
            <a:solidFill>
              <a:srgbClr val="E76F51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6F3-C644-AB8C-3C959B2EF322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6F3-C644-AB8C-3C959B2EF322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6F3-C644-AB8C-3C959B2EF322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6F3-C644-AB8C-3C959B2EF322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C2C2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Low (1)</c:v>
                </c:pt>
                <c:pt idx="1">
                  <c:v>Medium (2)</c:v>
                </c:pt>
                <c:pt idx="2">
                  <c:v>High (3)</c:v>
                </c:pt>
                <c:pt idx="3">
                  <c:v>Very High (4)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26.67</c:v>
                </c:pt>
                <c:pt idx="1">
                  <c:v>14.03</c:v>
                </c:pt>
                <c:pt idx="2">
                  <c:v>9.73</c:v>
                </c:pt>
                <c:pt idx="3">
                  <c:v>12.14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6F3-C644-AB8C-3C959B2EF32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C2C2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Attrition Rate</c:v>
                </c:pt>
              </c:strCache>
            </c:strRef>
          </c:tx>
          <c:spPr>
            <a:solidFill>
              <a:srgbClr val="E76F51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8547-0844-9BDE-84709320DB01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547-0844-9BDE-84709320DB01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547-0844-9BDE-84709320DB01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8547-0844-9BDE-84709320DB01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2C2C2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Low (1)</c:v>
                </c:pt>
                <c:pt idx="1">
                  <c:v>Medium (2)</c:v>
                </c:pt>
                <c:pt idx="2">
                  <c:v>High (3)</c:v>
                </c:pt>
                <c:pt idx="3">
                  <c:v>Very High (4)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15.81</c:v>
                </c:pt>
                <c:pt idx="1">
                  <c:v>13.55</c:v>
                </c:pt>
                <c:pt idx="2">
                  <c:v>11.83</c:v>
                </c:pt>
                <c:pt idx="3">
                  <c:v>8.49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8547-0844-9BDE-84709320DB01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C2C2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30"/>
        </c:scaling>
        <c:delete val="0"/>
        <c:axPos val="l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Attrition Rate</c:v>
                </c:pt>
              </c:strCache>
            </c:strRef>
          </c:tx>
          <c:spPr>
            <a:solidFill>
              <a:srgbClr val="E76F51"/>
            </a:solidFill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C000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CF3-184A-AA74-A370E29EF219}"/>
              </c:ext>
            </c:extLst>
          </c:dPt>
          <c:dPt>
            <c:idx val="1"/>
            <c:invertIfNegative val="0"/>
            <c:bubble3D val="0"/>
            <c:spPr>
              <a:solidFill>
                <a:schemeClr val="accent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CF3-184A-AA74-A370E29EF219}"/>
              </c:ext>
            </c:extLst>
          </c:dPt>
          <c:dPt>
            <c:idx val="2"/>
            <c:invertIfNegative val="0"/>
            <c:bubble3D val="0"/>
            <c:spPr>
              <a:solidFill>
                <a:schemeClr val="accent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CF3-184A-AA74-A370E29EF219}"/>
              </c:ext>
            </c:extLst>
          </c:dPt>
          <c:dPt>
            <c:idx val="3"/>
            <c:invertIfNegative val="0"/>
            <c:bubble3D val="0"/>
            <c:spPr>
              <a:solidFill>
                <a:schemeClr val="accent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CF3-184A-AA74-A370E29EF219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2C2C2C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Other</c:v>
                </c:pt>
                <c:pt idx="1">
                  <c:v>Nurse</c:v>
                </c:pt>
                <c:pt idx="2">
                  <c:v>Therapist</c:v>
                </c:pt>
                <c:pt idx="3">
                  <c:v>Administrative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16.29</c:v>
                </c:pt>
                <c:pt idx="1">
                  <c:v>13.02</c:v>
                </c:pt>
                <c:pt idx="2">
                  <c:v>2.12</c:v>
                </c:pt>
                <c:pt idx="3">
                  <c:v>0.76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0CF3-184A-AA74-A370E29EF219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2C2C2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8E8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5A5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710024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840480"/>
            <a:ext cx="9144000" cy="1303020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200" b="1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Watson Healthcare</a:t>
            </a:r>
            <a:endParaRPr lang="en-US" sz="4200" dirty="0">
              <a:solidFill>
                <a:schemeClr val="bg2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640080" y="1737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>
                <a:solidFill>
                  <a:schemeClr val="bg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Employee Attrition Analysis</a:t>
            </a:r>
            <a:endParaRPr lang="en-US" sz="2800" dirty="0">
              <a:solidFill>
                <a:schemeClr val="bg2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640080" y="256032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Identifying the key drivers of turnover and actionable strategies to improve retention</a:t>
            </a:r>
            <a:endParaRPr lang="en-US" sz="1400" dirty="0">
              <a:solidFill>
                <a:schemeClr val="bg2"/>
              </a:solidFill>
            </a:endParaRPr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Analysis by S. Jai Varanasi  |  InsightArc Analytics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4526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CCC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March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64008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Executive summary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822960"/>
            <a:ext cx="7863840" cy="9144"/>
          </a:xfrm>
          <a:prstGeom prst="rect">
            <a:avLst/>
          </a:prstGeom>
          <a:solidFill>
            <a:srgbClr val="DDDDDD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0058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</a:t>
            </a: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Watson Healthcare is experiencing an 11.87% attrition rate across 1,676 employees, with 199 departures. While below industry average, the financial and operational impact is significant — each departure costs 0.5-2x annual salary to replace.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8288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biggest finding: </a:t>
            </a: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Overtime is the dominant predictor of attrition. Employees who work overtime leave at 29.2% — nearly 6x the rate of non-overtime workers (5.0%). This creates a vicious cycle: understaffing leads to overtime, which causes burnout, which causes more departures, which creates more understaffing.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at-risk profile: </a:t>
            </a: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Young (~31 years old), low-paid (avg $4,024/month), new to the company (avg 3.7 years), working overtime, with poor work-life balance. Most likely a Nurse or 'Other' role in Cardiology or Maternity.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56616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actions: </a:t>
            </a:r>
            <a:r>
              <a:rPr lang="en-US" sz="13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mandatory overtime through additional hiring, increase entry-level compensation, strengthen the first-2-year onboarding experience, and implement nurse-specific retention programs.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61772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Attrition at a glance: 1 in 8 employees is leaving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40080" y="1005840"/>
            <a:ext cx="1828800" cy="1280160"/>
          </a:xfrm>
          <a:prstGeom prst="roundRect">
            <a:avLst>
              <a:gd name="adj" fmla="val 7143"/>
            </a:avLst>
          </a:prstGeom>
          <a:solidFill>
            <a:schemeClr val="accent1">
              <a:lumMod val="40000"/>
              <a:lumOff val="60000"/>
            </a:schemeClr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640080" y="1143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>
                    <a:alpha val="7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employees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508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1,676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2697480" y="1005840"/>
            <a:ext cx="1828800" cy="1280160"/>
          </a:xfrm>
          <a:prstGeom prst="roundRect">
            <a:avLst>
              <a:gd name="adj" fmla="val 7143"/>
            </a:avLst>
          </a:prstGeom>
          <a:solidFill>
            <a:schemeClr val="accent1">
              <a:lumMod val="40000"/>
              <a:lumOff val="60000"/>
            </a:schemeClr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697480" y="1143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>
                    <a:alpha val="7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Attrition rate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697480" y="1508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11.87%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4754880" y="1005840"/>
            <a:ext cx="1828800" cy="1280160"/>
          </a:xfrm>
          <a:prstGeom prst="roundRect">
            <a:avLst>
              <a:gd name="adj" fmla="val 7143"/>
            </a:avLst>
          </a:prstGeom>
          <a:solidFill>
            <a:schemeClr val="accent1">
              <a:lumMod val="40000"/>
              <a:lumOff val="60000"/>
            </a:schemeClr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754880" y="1143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A4A">
                    <a:alpha val="70000"/>
                  </a:srgb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income (leavers)</a:t>
            </a:r>
            <a:endParaRPr lang="en-US" sz="1100" b="1" dirty="0"/>
          </a:p>
        </p:txBody>
      </p:sp>
      <p:sp>
        <p:nvSpPr>
          <p:cNvPr id="11" name="Text 9"/>
          <p:cNvSpPr/>
          <p:nvPr/>
        </p:nvSpPr>
        <p:spPr>
          <a:xfrm>
            <a:off x="4754880" y="1508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$4,024</a:t>
            </a:r>
            <a:endParaRPr lang="en-US" sz="3600" dirty="0"/>
          </a:p>
        </p:txBody>
      </p:sp>
      <p:sp>
        <p:nvSpPr>
          <p:cNvPr id="12" name="Shape 10"/>
          <p:cNvSpPr/>
          <p:nvPr/>
        </p:nvSpPr>
        <p:spPr>
          <a:xfrm>
            <a:off x="6812280" y="1005840"/>
            <a:ext cx="1828800" cy="1280160"/>
          </a:xfrm>
          <a:prstGeom prst="roundRect">
            <a:avLst>
              <a:gd name="adj" fmla="val 7143"/>
            </a:avLst>
          </a:prstGeom>
          <a:solidFill>
            <a:schemeClr val="accent1">
              <a:lumMod val="40000"/>
              <a:lumOff val="60000"/>
            </a:schemeClr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812280" y="11430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chemeClr val="tx1">
                    <a:alpha val="7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age (leavers)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812280" y="1508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30.9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640080" y="2560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Attrition by department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40080" y="2922036"/>
            <a:ext cx="3657600" cy="602448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68680" y="301752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Cardiology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286000" y="301752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13.94%</a:t>
            </a:r>
            <a:endParaRPr lang="en-US" sz="1400" dirty="0">
              <a:solidFill>
                <a:schemeClr val="accent4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3200400" y="30175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of 531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40080" y="3498060"/>
            <a:ext cx="3657600" cy="54768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68680" y="356616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Maternity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286000" y="356616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12.31%</a:t>
            </a:r>
            <a:endParaRPr lang="en-US" sz="1400" dirty="0">
              <a:solidFill>
                <a:schemeClr val="accent4"/>
              </a:solidFill>
            </a:endParaRPr>
          </a:p>
        </p:txBody>
      </p:sp>
      <p:sp>
        <p:nvSpPr>
          <p:cNvPr id="25" name="Text 23"/>
          <p:cNvSpPr/>
          <p:nvPr/>
        </p:nvSpPr>
        <p:spPr>
          <a:xfrm>
            <a:off x="3200400" y="35661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 of 796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0080" y="4019316"/>
            <a:ext cx="3657600" cy="602448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68680" y="41148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Neurology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286000" y="4114800"/>
            <a:ext cx="914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7.74%</a:t>
            </a:r>
            <a:endParaRPr lang="en-US" sz="1400" dirty="0">
              <a:solidFill>
                <a:schemeClr val="accent1"/>
              </a:solidFill>
            </a:endParaRPr>
          </a:p>
        </p:txBody>
      </p:sp>
      <p:sp>
        <p:nvSpPr>
          <p:cNvPr id="30" name="Text 28"/>
          <p:cNvSpPr/>
          <p:nvPr/>
        </p:nvSpPr>
        <p:spPr>
          <a:xfrm>
            <a:off x="3200400" y="41148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of 349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4898488" y="2542032"/>
            <a:ext cx="3788312" cy="402336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Risk tier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4898488" y="2932528"/>
            <a:ext cx="490025" cy="490025"/>
          </a:xfrm>
          <a:prstGeom prst="rect">
            <a:avLst/>
          </a:prstGeom>
          <a:solidFill>
            <a:srgbClr val="C0000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3" name="Text 31"/>
          <p:cNvSpPr/>
          <p:nvPr/>
        </p:nvSpPr>
        <p:spPr>
          <a:xfrm>
            <a:off x="5394960" y="2932528"/>
            <a:ext cx="3291840" cy="490025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High risk (&gt;15%)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98488" y="3344008"/>
            <a:ext cx="490025" cy="490025"/>
          </a:xfrm>
          <a:prstGeom prst="rect">
            <a:avLst/>
          </a:prstGeom>
          <a:solidFill>
            <a:schemeClr val="accent4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394960" y="3404939"/>
            <a:ext cx="3291840" cy="368163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Moderate risk (10-15%)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898488" y="3755488"/>
            <a:ext cx="490025" cy="490025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5394960" y="3755488"/>
            <a:ext cx="3291840" cy="490025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Low risk (&lt;10%)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Overtime is the #1 predictor of attrition — employees who work OT leave at 6x the rate</a:t>
            </a:r>
            <a:endParaRPr lang="en-US" sz="20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2834885542"/>
              </p:ext>
            </p:extLst>
          </p:nvPr>
        </p:nvGraphicFramePr>
        <p:xfrm>
          <a:off x="640080" y="1005840"/>
          <a:ext cx="45720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5669280" y="1005840"/>
            <a:ext cx="3017520" cy="1097280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6059978" y="1005840"/>
            <a:ext cx="2327564" cy="1005840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00000"/>
                </a:solidFill>
              </a:rPr>
              <a:t>   29.2%</a:t>
            </a:r>
            <a:endParaRPr lang="en-US" sz="2800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C2C2C"/>
                </a:solidFill>
              </a:rPr>
              <a:t>       of overtime workers leave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669280" y="2286000"/>
            <a:ext cx="3017520" cy="1097280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6059978" y="1968077"/>
            <a:ext cx="2327564" cy="1619915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   5.0%</a:t>
            </a:r>
            <a:endParaRPr lang="en-US" sz="2800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C2C2C"/>
                </a:solidFill>
              </a:rPr>
              <a:t>       of non-overtime workers leave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640080" y="4297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vicious cycle: understaffing → overtime → burnout → more departures → more understaffing</a:t>
            </a:r>
            <a:endParaRPr lang="en-US" sz="1200" dirty="0">
              <a:solidFill>
                <a:srgbClr val="C00000"/>
              </a:solidFill>
            </a:endParaRPr>
          </a:p>
        </p:txBody>
      </p:sp>
      <p:sp>
        <p:nvSpPr>
          <p:cNvPr id="11" name="Text 8"/>
          <p:cNvSpPr/>
          <p:nvPr/>
        </p:nvSpPr>
        <p:spPr>
          <a:xfrm>
            <a:off x="640080" y="470916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Reporting Specific segments of overtime hours worked would give a better picture and allow for more effective policy changes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Lower-paid employees leave at 7x the rate of top earners</a:t>
            </a:r>
            <a:endParaRPr lang="en-US" sz="22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2908731188"/>
              </p:ext>
            </p:extLst>
          </p:nvPr>
        </p:nvGraphicFramePr>
        <p:xfrm>
          <a:off x="640080" y="914400"/>
          <a:ext cx="45720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5669280" y="914400"/>
            <a:ext cx="3017520" cy="1828800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5669280" y="922103"/>
            <a:ext cx="3017520" cy="441795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monthly income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669280" y="1371600"/>
            <a:ext cx="30175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Stayed: </a:t>
            </a: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$6,852</a:t>
            </a:r>
            <a:endParaRPr lang="en-US" sz="1400" dirty="0">
              <a:solidFill>
                <a:schemeClr val="accent1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5669280" y="1828800"/>
            <a:ext cx="3017520" cy="457200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</a:t>
            </a:r>
            <a:r>
              <a:rPr lang="en-US" sz="20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$4,024</a:t>
            </a: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8" name="Text 5"/>
          <p:cNvSpPr/>
          <p:nvPr/>
        </p:nvSpPr>
        <p:spPr>
          <a:xfrm>
            <a:off x="5669280" y="2286000"/>
            <a:ext cx="3017520" cy="274320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$2,828 gap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4297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1 in 4 employees earning under $3K/month leave the organization. Even modest wage increases for the lowest bracket could significantly reduce this 26% attrition rate.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first 2 years are critical — new hires leave at 11x the rate of tenured staff</a:t>
            </a:r>
            <a:endParaRPr lang="en-US" sz="20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878681863"/>
              </p:ext>
            </p:extLst>
          </p:nvPr>
        </p:nvGraphicFramePr>
        <p:xfrm>
          <a:off x="640080" y="914400"/>
          <a:ext cx="45720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5669280" y="914400"/>
            <a:ext cx="3017520" cy="2286000"/>
          </a:xfrm>
          <a:prstGeom prst="rect">
            <a:avLst/>
          </a:prstGeom>
          <a:noFill/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5943600" y="1051560"/>
            <a:ext cx="2560320" cy="2011680"/>
          </a:xfrm>
          <a:prstGeom prst="rect">
            <a:avLst/>
          </a:prstGeom>
          <a:solidFill>
            <a:schemeClr val="bg1">
              <a:lumMod val="95000"/>
            </a:schemeClr>
          </a:solidFill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C00000"/>
                </a:solidFill>
              </a:rPr>
              <a:t>107 of 199</a:t>
            </a:r>
            <a:endParaRPr lang="en-US" sz="2400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sz="1300" dirty="0">
                <a:solidFill>
                  <a:srgbClr val="2C2C2C"/>
                </a:solidFill>
              </a:rPr>
              <a:t>departures happen within the first 2 years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1100" dirty="0">
                <a:solidFill>
                  <a:srgbClr val="5A5A5A"/>
                </a:solidFill>
              </a:rPr>
              <a:t>Average tenure:</a:t>
            </a:r>
            <a:endParaRPr lang="en-US" sz="2400" dirty="0"/>
          </a:p>
          <a:p>
            <a:pPr marL="0" indent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Stayed: 7.48 years</a:t>
            </a:r>
            <a:endParaRPr lang="en-US" sz="2400" dirty="0">
              <a:solidFill>
                <a:schemeClr val="accent1"/>
              </a:solidFill>
            </a:endParaRPr>
          </a:p>
          <a:p>
            <a:pPr marL="0" indent="0">
              <a:buNone/>
            </a:pPr>
            <a:r>
              <a:rPr lang="en-US" sz="1100" b="1" dirty="0">
                <a:solidFill>
                  <a:srgbClr val="C00000"/>
                </a:solidFill>
              </a:rPr>
              <a:t>Left: 3.69 years</a:t>
            </a:r>
            <a:endParaRPr lang="en-US" sz="2400" dirty="0">
              <a:solidFill>
                <a:srgbClr val="C00000"/>
              </a:solidFill>
            </a:endParaRPr>
          </a:p>
        </p:txBody>
      </p:sp>
      <p:sp>
        <p:nvSpPr>
          <p:cNvPr id="7" name="Text 4"/>
          <p:cNvSpPr/>
          <p:nvPr/>
        </p:nvSpPr>
        <p:spPr>
          <a:xfrm>
            <a:off x="640080" y="4297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onboarding window is where retention is won or lost. Structured mentorship, 30-60-90 day check-ins, and buddy systems could dramatically reduce early attrition.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Poor work-life balance and low satisfaction amplify the attrition problem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Work-life balance rating</a:t>
            </a:r>
            <a:endParaRPr lang="en-US" sz="1300" dirty="0"/>
          </a:p>
        </p:txBody>
      </p:sp>
      <p:graphicFrame>
        <p:nvGraphicFramePr>
          <p:cNvPr id="4" name="Chart 0"/>
          <p:cNvGraphicFramePr/>
          <p:nvPr>
            <p:extLst>
              <p:ext uri="{D42A27DB-BD31-4B8C-83A1-F6EECF244321}">
                <p14:modId xmlns:p14="http://schemas.microsoft.com/office/powerpoint/2010/main" val="975246689"/>
              </p:ext>
            </p:extLst>
          </p:nvPr>
        </p:nvGraphicFramePr>
        <p:xfrm>
          <a:off x="457200" y="1097280"/>
          <a:ext cx="411480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4846320" y="8229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satisfaction rating</a:t>
            </a:r>
            <a:endParaRPr lang="en-US" sz="1300" dirty="0"/>
          </a:p>
        </p:txBody>
      </p:sp>
      <p:graphicFrame>
        <p:nvGraphicFramePr>
          <p:cNvPr id="6" name="Chart 1"/>
          <p:cNvGraphicFramePr/>
          <p:nvPr>
            <p:extLst>
              <p:ext uri="{D42A27DB-BD31-4B8C-83A1-F6EECF244321}">
                <p14:modId xmlns:p14="http://schemas.microsoft.com/office/powerpoint/2010/main" val="3031969687"/>
              </p:ext>
            </p:extLst>
          </p:nvPr>
        </p:nvGraphicFramePr>
        <p:xfrm>
          <a:off x="4663440" y="1097280"/>
          <a:ext cx="4114800" cy="25603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7" name="Text 3"/>
          <p:cNvSpPr/>
          <p:nvPr/>
        </p:nvSpPr>
        <p:spPr>
          <a:xfrm>
            <a:off x="640080" y="39319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in 4 employees with the lowest work-life balance rating walk out. Satisfaction shows a clear inverse pattern — higher satisfaction consistently reduces attrition across all levels.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Nurses and 'Other' roles drive nearly all turnover — Therapists and Admin rarely leave</a:t>
            </a:r>
            <a:endParaRPr lang="en-US" sz="20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568231513"/>
              </p:ext>
            </p:extLst>
          </p:nvPr>
        </p:nvGraphicFramePr>
        <p:xfrm>
          <a:off x="640080" y="914400"/>
          <a:ext cx="502920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4" name="Shape 1"/>
          <p:cNvSpPr/>
          <p:nvPr/>
        </p:nvSpPr>
        <p:spPr>
          <a:xfrm>
            <a:off x="5943600" y="914400"/>
            <a:ext cx="2743200" cy="237744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2"/>
          <p:cNvSpPr/>
          <p:nvPr/>
        </p:nvSpPr>
        <p:spPr>
          <a:xfrm>
            <a:off x="6126480" y="1051560"/>
            <a:ext cx="2377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C00000"/>
                </a:solidFill>
              </a:rPr>
              <a:t>822 Nurses</a:t>
            </a:r>
            <a:endParaRPr lang="en-US" sz="1800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C2C2C"/>
                </a:solidFill>
              </a:rPr>
              <a:t>at 13% attrition = largest at-risk group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b="1" dirty="0">
                <a:solidFill>
                  <a:srgbClr val="C00000"/>
                </a:solidFill>
              </a:rPr>
              <a:t>534 'Other' roles</a:t>
            </a:r>
            <a:endParaRPr lang="en-US" sz="1800" dirty="0">
              <a:solidFill>
                <a:srgbClr val="C00000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C2C2C"/>
                </a:solidFill>
              </a:rPr>
              <a:t>at 16.3% = highest rate but undefined</a:t>
            </a:r>
            <a:endParaRPr lang="en-US" sz="1800" dirty="0"/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000" b="1" dirty="0">
                <a:solidFill>
                  <a:srgbClr val="5A5A5A"/>
                </a:solidFill>
              </a:rPr>
              <a:t>Data limitation: </a:t>
            </a:r>
            <a:r>
              <a:rPr lang="en-US" sz="1000" dirty="0">
                <a:solidFill>
                  <a:srgbClr val="5A5A5A"/>
                </a:solidFill>
              </a:rPr>
              <a:t>'Other' category needs further breakdown to enable targeted intervention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factors account for the vast majority of attrition at Watson Healthcare</a:t>
            </a:r>
            <a:endParaRPr lang="en-US" sz="2000" dirty="0"/>
          </a:p>
        </p:txBody>
      </p:sp>
      <p:sp>
        <p:nvSpPr>
          <p:cNvPr id="3" name="Shape 1"/>
          <p:cNvSpPr/>
          <p:nvPr/>
        </p:nvSpPr>
        <p:spPr>
          <a:xfrm>
            <a:off x="640080" y="811589"/>
            <a:ext cx="7863840" cy="937142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868680" y="9601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9601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Overtime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383280" y="96012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29.2% </a:t>
            </a:r>
            <a:r>
              <a:rPr lang="en-US" sz="1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r>
              <a:rPr lang="en-US" sz="1400" b="1" dirty="0">
                <a:solidFill>
                  <a:srgbClr val="E76F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5.0%</a:t>
            </a:r>
            <a:endParaRPr lang="en-US" sz="1400" dirty="0">
              <a:solidFill>
                <a:schemeClr val="accent1"/>
              </a:solidFill>
            </a:endParaRPr>
          </a:p>
        </p:txBody>
      </p:sp>
      <p:sp>
        <p:nvSpPr>
          <p:cNvPr id="8" name="Text 6"/>
          <p:cNvSpPr/>
          <p:nvPr/>
        </p:nvSpPr>
        <p:spPr>
          <a:xfrm>
            <a:off x="5212080" y="9601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Nearly 6x difference. Single strongest predictor.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1588829"/>
            <a:ext cx="7863840" cy="937142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17373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371600" y="17373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compensation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383280" y="17373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26.2% for &lt;$3K</a:t>
            </a: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14" name="Text 12"/>
          <p:cNvSpPr/>
          <p:nvPr/>
        </p:nvSpPr>
        <p:spPr>
          <a:xfrm>
            <a:off x="5212080" y="173736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7x the rate of top earners ($10K+).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40080" y="2366069"/>
            <a:ext cx="7863840" cy="937142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" y="25146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371600" y="25146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 tenure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383280" y="25146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27.7% in 0-2 yrs</a:t>
            </a: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20" name="Text 18"/>
          <p:cNvSpPr/>
          <p:nvPr/>
        </p:nvSpPr>
        <p:spPr>
          <a:xfrm>
            <a:off x="5212080" y="251460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 of 199 departures in the first 2 years.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40080" y="3143309"/>
            <a:ext cx="7863840" cy="937142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868680" y="32918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371600" y="329184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Work-life balance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383280" y="329184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26.7% for lowest</a:t>
            </a: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26" name="Text 24"/>
          <p:cNvSpPr/>
          <p:nvPr/>
        </p:nvSpPr>
        <p:spPr>
          <a:xfrm>
            <a:off x="5212080" y="32918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2.5x the rate of good balance.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069080"/>
            <a:ext cx="7863840" cy="640080"/>
          </a:xfrm>
          <a:prstGeom prst="rect">
            <a:avLst/>
          </a:prstGeom>
          <a:solidFill>
            <a:srgbClr val="F7F7F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868680" y="40690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1371600" y="406908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 / career level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383280" y="406908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age 31</a:t>
            </a:r>
            <a:endParaRPr lang="en-US" sz="1400" dirty="0">
              <a:solidFill>
                <a:srgbClr val="C00000"/>
              </a:solidFill>
            </a:endParaRPr>
          </a:p>
        </p:txBody>
      </p:sp>
      <p:sp>
        <p:nvSpPr>
          <p:cNvPr id="32" name="Text 30"/>
          <p:cNvSpPr/>
          <p:nvPr/>
        </p:nvSpPr>
        <p:spPr>
          <a:xfrm>
            <a:off x="5212080" y="40690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5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Leavers are younger, lower-level, lower-paid.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Recommendations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82296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044787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mandatory overtime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0253" y="1349584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 additional staff, specifically in Cardiology and Maternity. Address the highest impact factor on the departments with the highest attrition rate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2157299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Increase entry-level compensation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188720" y="2514591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employees earning under $3K/month where attrition is 26%. Even modest raises significantly improve retention rate, as the data indicates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" y="3703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37033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188720" y="406908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318757" y="101769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Start enacting policy which would improve work life balance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303520" y="141732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 scheduling, predictable shift rotations, and adequate time off — especially for roles with lowest balance ratings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303520" y="2377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303520" y="2743200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466344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677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Analysis by S. Jai Varanasi  |  InsightArc Analytics  |  March 2026</a:t>
            </a:r>
            <a:endParaRPr lang="en-US" sz="10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75EEF92-9C81-BB16-9D5B-CBA657775446}"/>
              </a:ext>
            </a:extLst>
          </p:cNvPr>
          <p:cNvSpPr txBox="1"/>
          <p:nvPr/>
        </p:nvSpPr>
        <p:spPr>
          <a:xfrm>
            <a:off x="5269652" y="2697480"/>
            <a:ext cx="2926079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AABBCC"/>
                </a:solidFill>
                <a:latin typeface="Calibri" panose="020F0502020204030204" pitchFamily="34" charset="0"/>
                <a:ea typeface="Calibri" pitchFamily="34" charset="-122"/>
                <a:cs typeface="Calibri" panose="020F0502020204030204" pitchFamily="34" charset="0"/>
              </a:rPr>
              <a:t>Significantly Focus efforts on the early career segment of the employment pool: Mentorship programs, career-ladder programs, etc. Lack of training was a major attrition factor, so implementing a new more robust training program would drive attrition down.</a:t>
            </a:r>
            <a:endParaRPr lang="en-US" sz="1000" dirty="0">
              <a:solidFill>
                <a:schemeClr val="bg1">
                  <a:lumMod val="85000"/>
                </a:schemeClr>
              </a:solidFill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endParaRPr lang="en-US" sz="1000" dirty="0"/>
          </a:p>
          <a:p>
            <a:endParaRPr lang="en-US" dirty="0"/>
          </a:p>
        </p:txBody>
      </p:sp>
      <p:sp>
        <p:nvSpPr>
          <p:cNvPr id="36" name="Text 9">
            <a:extLst>
              <a:ext uri="{FF2B5EF4-FFF2-40B4-BE49-F238E27FC236}">
                <a16:creationId xmlns:a16="http://schemas.microsoft.com/office/drawing/2014/main" id="{25171E3A-E17F-F93E-8DD1-1C0798399F10}"/>
              </a:ext>
            </a:extLst>
          </p:cNvPr>
          <p:cNvSpPr/>
          <p:nvPr/>
        </p:nvSpPr>
        <p:spPr>
          <a:xfrm>
            <a:off x="5352625" y="23774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Overhaul Onboarding Training Program</a:t>
            </a:r>
            <a:endParaRPr lang="en-US" sz="1300" dirty="0"/>
          </a:p>
        </p:txBody>
      </p:sp>
      <p:sp>
        <p:nvSpPr>
          <p:cNvPr id="37" name="Text 9">
            <a:extLst>
              <a:ext uri="{FF2B5EF4-FFF2-40B4-BE49-F238E27FC236}">
                <a16:creationId xmlns:a16="http://schemas.microsoft.com/office/drawing/2014/main" id="{C8AA48C2-5303-1FB4-37FF-2B50C5E1F6C7}"/>
              </a:ext>
            </a:extLst>
          </p:cNvPr>
          <p:cNvSpPr/>
          <p:nvPr/>
        </p:nvSpPr>
        <p:spPr>
          <a:xfrm>
            <a:off x="1188720" y="3370579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cs typeface="Calibri" pitchFamily="34" charset="-120"/>
              </a:rPr>
              <a:t>Implement a Nursing-Specific Retention Program</a:t>
            </a:r>
            <a:endParaRPr lang="en-US" sz="1300" dirty="0"/>
          </a:p>
        </p:txBody>
      </p:sp>
      <p:sp>
        <p:nvSpPr>
          <p:cNvPr id="39" name="Text 10">
            <a:extLst>
              <a:ext uri="{FF2B5EF4-FFF2-40B4-BE49-F238E27FC236}">
                <a16:creationId xmlns:a16="http://schemas.microsoft.com/office/drawing/2014/main" id="{CD35A4B9-3193-2DDC-C534-81EF6EEE0929}"/>
              </a:ext>
            </a:extLst>
          </p:cNvPr>
          <p:cNvSpPr/>
          <p:nvPr/>
        </p:nvSpPr>
        <p:spPr>
          <a:xfrm>
            <a:off x="1180253" y="3874348"/>
            <a:ext cx="2926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an incentive program for nurses by offering bonuses, priority scheduling initiatives, </a:t>
            </a:r>
            <a:r>
              <a:rPr lang="en-US" sz="1000" dirty="0" err="1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etc</a:t>
            </a:r>
            <a:r>
              <a:rPr lang="en-US" sz="1000" dirty="0">
                <a:solidFill>
                  <a:srgbClr val="AABB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to address this group specifically, as this is one of the highest attrition categories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1968</TotalTime>
  <Words>844</Words>
  <Application>Microsoft Macintosh PowerPoint</Application>
  <PresentationFormat>On-screen Show (16:9)</PresentationFormat>
  <Paragraphs>109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Watson Healthcare Employee Attrition Analysis</dc:title>
  <dc:subject>PptxGenJS Presentation</dc:subject>
  <dc:creator>S. Jai Varanasi</dc:creator>
  <cp:lastModifiedBy>S. Jai Varanasi</cp:lastModifiedBy>
  <cp:revision>4</cp:revision>
  <dcterms:created xsi:type="dcterms:W3CDTF">2026-03-29T16:46:01Z</dcterms:created>
  <dcterms:modified xsi:type="dcterms:W3CDTF">2026-03-31T03:22:41Z</dcterms:modified>
</cp:coreProperties>
</file>